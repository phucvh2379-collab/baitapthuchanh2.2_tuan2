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Agrandir" panose="020B0604020202020204" charset="0"/>
      <p:regular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04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FECE0-9A45-4D17-BBFF-2DDB8372D78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1264-B3EA-4ACA-B03B-3A53061D3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2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1264-B3EA-4ACA-B03B-3A53061D33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02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70038" y="3281900"/>
            <a:ext cx="17617962" cy="3723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56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App design apprentice-2nd </a:t>
            </a:r>
          </a:p>
          <a:p>
            <a:pPr lvl="0" algn="ctr">
              <a:lnSpc>
                <a:spcPct val="150000"/>
              </a:lnSpc>
            </a:pPr>
            <a:r>
              <a:rPr lang="en-US" sz="56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Section II: Components &amp;  Design Systems </a:t>
            </a:r>
          </a:p>
          <a:p>
            <a:pPr lvl="0" algn="ctr">
              <a:lnSpc>
                <a:spcPct val="150000"/>
              </a:lnSpc>
            </a:pPr>
            <a:r>
              <a:rPr lang="en-US" sz="56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Chapter 4: Wireframing &amp; Screen Layout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715000" y="8427366"/>
            <a:ext cx="7906997" cy="962406"/>
            <a:chOff x="0" y="0"/>
            <a:chExt cx="2082501" cy="2534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2501" cy="253473"/>
            </a:xfrm>
            <a:custGeom>
              <a:avLst/>
              <a:gdLst/>
              <a:ahLst/>
              <a:cxnLst/>
              <a:rect l="l" t="t" r="r" b="b"/>
              <a:pathLst>
                <a:path w="2082501" h="253473">
                  <a:moveTo>
                    <a:pt x="49935" y="0"/>
                  </a:moveTo>
                  <a:lnTo>
                    <a:pt x="2032566" y="0"/>
                  </a:lnTo>
                  <a:cubicBezTo>
                    <a:pt x="2045810" y="0"/>
                    <a:pt x="2058511" y="5261"/>
                    <a:pt x="2067876" y="14626"/>
                  </a:cubicBezTo>
                  <a:cubicBezTo>
                    <a:pt x="2077240" y="23990"/>
                    <a:pt x="2082501" y="36692"/>
                    <a:pt x="2082501" y="49935"/>
                  </a:cubicBezTo>
                  <a:lnTo>
                    <a:pt x="2082501" y="203538"/>
                  </a:lnTo>
                  <a:cubicBezTo>
                    <a:pt x="2082501" y="216781"/>
                    <a:pt x="2077240" y="229483"/>
                    <a:pt x="2067876" y="238847"/>
                  </a:cubicBezTo>
                  <a:cubicBezTo>
                    <a:pt x="2058511" y="248212"/>
                    <a:pt x="2045810" y="253473"/>
                    <a:pt x="2032566" y="253473"/>
                  </a:cubicBezTo>
                  <a:lnTo>
                    <a:pt x="49935" y="253473"/>
                  </a:lnTo>
                  <a:cubicBezTo>
                    <a:pt x="36692" y="253473"/>
                    <a:pt x="23990" y="248212"/>
                    <a:pt x="14626" y="238847"/>
                  </a:cubicBezTo>
                  <a:cubicBezTo>
                    <a:pt x="5261" y="229483"/>
                    <a:pt x="0" y="216781"/>
                    <a:pt x="0" y="203538"/>
                  </a:cubicBezTo>
                  <a:lnTo>
                    <a:pt x="0" y="49935"/>
                  </a:lnTo>
                  <a:cubicBezTo>
                    <a:pt x="0" y="36692"/>
                    <a:pt x="5261" y="23990"/>
                    <a:pt x="14626" y="14626"/>
                  </a:cubicBezTo>
                  <a:cubicBezTo>
                    <a:pt x="23990" y="5261"/>
                    <a:pt x="36692" y="0"/>
                    <a:pt x="499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082501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2875" y="200025"/>
            <a:ext cx="6202135" cy="1178406"/>
          </a:xfrm>
          <a:custGeom>
            <a:avLst/>
            <a:gdLst/>
            <a:ahLst/>
            <a:cxnLst/>
            <a:rect l="l" t="t" r="r" b="b"/>
            <a:pathLst>
              <a:path w="6202135" h="1178406">
                <a:moveTo>
                  <a:pt x="0" y="0"/>
                </a:moveTo>
                <a:lnTo>
                  <a:pt x="6202135" y="0"/>
                </a:lnTo>
                <a:lnTo>
                  <a:pt x="6202135" y="1178406"/>
                </a:lnTo>
                <a:lnTo>
                  <a:pt x="0" y="1178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909280" y="1739573"/>
            <a:ext cx="9568706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LẬP TRÌNH THIẾT BỊ DI ĐỘNG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52070" y="8584022"/>
            <a:ext cx="7883127" cy="57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171717"/>
                </a:solidFill>
                <a:ea typeface="Agrandir"/>
                <a:cs typeface="Agrandir"/>
                <a:sym typeface="Agrandir"/>
              </a:rPr>
              <a:t>Gv</a:t>
            </a:r>
            <a:r>
              <a:rPr lang="en-US" sz="3399" dirty="0">
                <a:solidFill>
                  <a:srgbClr val="171717"/>
                </a:solidFill>
                <a:ea typeface="Agrandir"/>
                <a:cs typeface="Agrandir"/>
                <a:sym typeface="Agrandir"/>
              </a:rPr>
              <a:t> </a:t>
            </a:r>
            <a:r>
              <a:rPr lang="en-US" sz="3399" dirty="0" err="1">
                <a:solidFill>
                  <a:srgbClr val="171717"/>
                </a:solidFill>
                <a:ea typeface="Agrandir"/>
                <a:cs typeface="Agrandir"/>
                <a:sym typeface="Agrandir"/>
              </a:rPr>
              <a:t>hướng</a:t>
            </a:r>
            <a:r>
              <a:rPr lang="en-US" sz="3399" dirty="0">
                <a:solidFill>
                  <a:srgbClr val="171717"/>
                </a:solidFill>
                <a:ea typeface="Agrandir"/>
                <a:cs typeface="Agrandir"/>
                <a:sym typeface="Agrandir"/>
              </a:rPr>
              <a:t> </a:t>
            </a:r>
            <a:r>
              <a:rPr lang="en-US" sz="3399" dirty="0" err="1">
                <a:solidFill>
                  <a:srgbClr val="171717"/>
                </a:solidFill>
                <a:ea typeface="Agrandir"/>
                <a:cs typeface="Agrandir"/>
                <a:sym typeface="Agrandir"/>
              </a:rPr>
              <a:t>dẫn</a:t>
            </a:r>
            <a:r>
              <a:rPr lang="en-US" sz="3399" dirty="0">
                <a:solidFill>
                  <a:srgbClr val="171717"/>
                </a:solidFill>
                <a:ea typeface="Agrandir"/>
                <a:cs typeface="Agrandir"/>
                <a:sym typeface="Agrandir"/>
              </a:rPr>
              <a:t>: Trương Quang Tuấn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2124" y="2598968"/>
            <a:ext cx="2479818" cy="701040"/>
            <a:chOff x="0" y="0"/>
            <a:chExt cx="896620" cy="2534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578469"/>
            <a:ext cx="18288000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</a:pPr>
            <a:r>
              <a:rPr lang="en-US" sz="6000" b="1" spc="-390" dirty="0" err="1">
                <a:solidFill>
                  <a:srgbClr val="1717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Tổng</a:t>
            </a:r>
            <a:r>
              <a:rPr lang="en-US" sz="6000" b="1" spc="-390" dirty="0">
                <a:solidFill>
                  <a:srgbClr val="1717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</a:t>
            </a:r>
            <a:r>
              <a:rPr lang="en-US" sz="6000" b="1" spc="-390" dirty="0">
                <a:solidFill>
                  <a:srgbClr val="1717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về</a:t>
            </a:r>
            <a:r>
              <a:rPr lang="en-US" sz="6000" b="1" spc="-390" dirty="0">
                <a:solidFill>
                  <a:srgbClr val="1717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Wireframing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2061" y="2699420"/>
            <a:ext cx="380460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40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Khái</a:t>
            </a:r>
            <a:r>
              <a:rPr lang="en-US" sz="40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niệm</a:t>
            </a:r>
            <a:endParaRPr lang="en-US" sz="4000" b="1" i="1" u="none" strike="noStrike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723091" y="2705100"/>
            <a:ext cx="13639800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ước thiết yếu để cấu trúc hóa ý tưởng và hiện thực hóa chúng</a:t>
            </a:r>
            <a:endParaRPr lang="en-US" sz="4000" dirty="0">
              <a:solidFill>
                <a:srgbClr val="171717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67113" y="4838700"/>
            <a:ext cx="16835087" cy="2671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40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vi-VN" sz="4000" dirty="0">
                <a:latin typeface="+mj-lt"/>
              </a:rPr>
              <a:t>Việc phác thảo ở giai đoạn này giúp phơi bày các vấn đề sớm trong ý tưởng, từ đó lặp lại thiết kế mà không lãng phí thời gian và công sức cho các thay đổi tốn kém sau này</a:t>
            </a:r>
            <a:endParaRPr lang="en-US" sz="4000" dirty="0">
              <a:solidFill>
                <a:srgbClr val="171717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TextBox 4">
            <a:extLst>
              <a:ext uri="{FF2B5EF4-FFF2-40B4-BE49-F238E27FC236}">
                <a16:creationId xmlns:a16="http://schemas.microsoft.com/office/drawing/2014/main" id="{3339A0EA-4A20-C140-5F6B-CA91EBD2DA01}"/>
              </a:ext>
            </a:extLst>
          </p:cNvPr>
          <p:cNvSpPr txBox="1"/>
          <p:nvPr/>
        </p:nvSpPr>
        <p:spPr>
          <a:xfrm>
            <a:off x="832604" y="3200575"/>
            <a:ext cx="2479818" cy="75372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50"/>
              </a:lnSpc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4460" y="4135970"/>
            <a:ext cx="3804601" cy="774177"/>
            <a:chOff x="0" y="0"/>
            <a:chExt cx="896620" cy="2534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10344" y="5316811"/>
            <a:ext cx="7167655" cy="774178"/>
            <a:chOff x="0" y="0"/>
            <a:chExt cx="1300546" cy="2038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0546" cy="203899"/>
            </a:xfrm>
            <a:custGeom>
              <a:avLst/>
              <a:gdLst/>
              <a:ahLst/>
              <a:cxnLst/>
              <a:rect l="l" t="t" r="r" b="b"/>
              <a:pathLst>
                <a:path w="1300546" h="203899">
                  <a:moveTo>
                    <a:pt x="29789" y="0"/>
                  </a:moveTo>
                  <a:lnTo>
                    <a:pt x="1270757" y="0"/>
                  </a:lnTo>
                  <a:cubicBezTo>
                    <a:pt x="1287209" y="0"/>
                    <a:pt x="1300546" y="13337"/>
                    <a:pt x="1300546" y="29789"/>
                  </a:cubicBezTo>
                  <a:lnTo>
                    <a:pt x="1300546" y="174110"/>
                  </a:lnTo>
                  <a:cubicBezTo>
                    <a:pt x="1300546" y="190562"/>
                    <a:pt x="1287209" y="203899"/>
                    <a:pt x="1270757" y="203899"/>
                  </a:cubicBezTo>
                  <a:lnTo>
                    <a:pt x="29789" y="203899"/>
                  </a:lnTo>
                  <a:cubicBezTo>
                    <a:pt x="13337" y="203899"/>
                    <a:pt x="0" y="190562"/>
                    <a:pt x="0" y="174110"/>
                  </a:cubicBezTo>
                  <a:lnTo>
                    <a:pt x="0" y="29789"/>
                  </a:lnTo>
                  <a:cubicBezTo>
                    <a:pt x="0" y="13337"/>
                    <a:pt x="13337" y="0"/>
                    <a:pt x="29789" y="0"/>
                  </a:cubicBezTo>
                  <a:close/>
                </a:path>
              </a:pathLst>
            </a:custGeom>
            <a:solidFill>
              <a:srgbClr val="59819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00546" cy="251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282271" y="3466451"/>
            <a:ext cx="7167654" cy="774178"/>
            <a:chOff x="0" y="0"/>
            <a:chExt cx="1300546" cy="2038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546" cy="203899"/>
            </a:xfrm>
            <a:custGeom>
              <a:avLst/>
              <a:gdLst/>
              <a:ahLst/>
              <a:cxnLst/>
              <a:rect l="l" t="t" r="r" b="b"/>
              <a:pathLst>
                <a:path w="1300546" h="203899">
                  <a:moveTo>
                    <a:pt x="29789" y="0"/>
                  </a:moveTo>
                  <a:lnTo>
                    <a:pt x="1270757" y="0"/>
                  </a:lnTo>
                  <a:cubicBezTo>
                    <a:pt x="1287209" y="0"/>
                    <a:pt x="1300546" y="13337"/>
                    <a:pt x="1300546" y="29789"/>
                  </a:cubicBezTo>
                  <a:lnTo>
                    <a:pt x="1300546" y="174110"/>
                  </a:lnTo>
                  <a:cubicBezTo>
                    <a:pt x="1300546" y="190562"/>
                    <a:pt x="1287209" y="203899"/>
                    <a:pt x="1270757" y="203899"/>
                  </a:cubicBezTo>
                  <a:lnTo>
                    <a:pt x="29789" y="203899"/>
                  </a:lnTo>
                  <a:cubicBezTo>
                    <a:pt x="13337" y="203899"/>
                    <a:pt x="0" y="190562"/>
                    <a:pt x="0" y="174110"/>
                  </a:cubicBezTo>
                  <a:lnTo>
                    <a:pt x="0" y="29789"/>
                  </a:lnTo>
                  <a:cubicBezTo>
                    <a:pt x="0" y="13337"/>
                    <a:pt x="13337" y="0"/>
                    <a:pt x="29789" y="0"/>
                  </a:cubicBezTo>
                  <a:close/>
                </a:path>
              </a:pathLst>
            </a:custGeom>
            <a:solidFill>
              <a:srgbClr val="59819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300546" cy="251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190291" y="582930"/>
            <a:ext cx="11907419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88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Nguyên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Low-Fidelity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endParaRPr lang="en-US" sz="6000" b="1" spc="-390" dirty="0">
              <a:solidFill>
                <a:srgbClr val="171717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43260" y="4232068"/>
            <a:ext cx="2667000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3200" b="1" i="1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Điểm</a:t>
            </a:r>
            <a:r>
              <a:rPr lang="en-US" sz="3200" b="1" i="1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nổi</a:t>
            </a:r>
            <a:r>
              <a:rPr lang="en-US" sz="3200" b="1" i="1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bật</a:t>
            </a:r>
            <a:endParaRPr lang="en-US" sz="3200" b="1" i="1" u="none" strike="noStrike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346440" y="5427301"/>
            <a:ext cx="7131560" cy="480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919"/>
              </a:lnSpc>
              <a:spcBef>
                <a:spcPct val="0"/>
              </a:spcBef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T</a:t>
            </a:r>
            <a:r>
              <a:rPr lang="vi-VN" sz="3200" dirty="0">
                <a:solidFill>
                  <a:schemeClr val="bg1"/>
                </a:solidFill>
                <a:latin typeface="+mj-lt"/>
              </a:rPr>
              <a:t>ập trung </a:t>
            </a:r>
            <a:r>
              <a:rPr lang="vi-VN" sz="3200" b="1" dirty="0">
                <a:solidFill>
                  <a:schemeClr val="bg1"/>
                </a:solidFill>
                <a:latin typeface="+mj-lt"/>
              </a:rPr>
              <a:t>vào chức năng hơn là hình thức</a:t>
            </a:r>
            <a:r>
              <a:rPr lang="vi-VN" sz="3200" dirty="0">
                <a:solidFill>
                  <a:schemeClr val="bg1"/>
                </a:solidFill>
                <a:latin typeface="+mj-lt"/>
              </a:rPr>
              <a:t> </a:t>
            </a:r>
            <a:endParaRPr lang="en-US" sz="3200" b="1" dirty="0">
              <a:solidFill>
                <a:schemeClr val="bg1"/>
              </a:solidFill>
              <a:latin typeface="+mj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318367" y="3593835"/>
            <a:ext cx="7159632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919"/>
              </a:lnSpc>
              <a:spcBef>
                <a:spcPct val="0"/>
              </a:spcBef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Wireframes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6BBFEC3-014C-98C3-8A86-52435B5B4084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5179061" y="3853540"/>
            <a:ext cx="2103210" cy="640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3CF98BC-8085-2BD4-5BEC-C764E50CB9D7}"/>
              </a:ext>
            </a:extLst>
          </p:cNvPr>
          <p:cNvCxnSpPr>
            <a:cxnSpLocks/>
          </p:cNvCxnSpPr>
          <p:nvPr/>
        </p:nvCxnSpPr>
        <p:spPr>
          <a:xfrm>
            <a:off x="5179061" y="4627718"/>
            <a:ext cx="2139305" cy="1114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A960CD-EB2A-549B-1A4A-733A7582813E}"/>
              </a:ext>
            </a:extLst>
          </p:cNvPr>
          <p:cNvSpPr txBox="1"/>
          <p:nvPr/>
        </p:nvSpPr>
        <p:spPr>
          <a:xfrm>
            <a:off x="1066800" y="7013724"/>
            <a:ext cx="16154400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(cross-functional team)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3200" dirty="0">
              <a:solidFill>
                <a:srgbClr val="171717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038225"/>
            <a:ext cx="15352740" cy="76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880"/>
              </a:lnSpc>
            </a:pPr>
            <a:r>
              <a:rPr lang="vi-VN" sz="6000" b="1" dirty="0">
                <a:latin typeface="+mj-lt"/>
              </a:rPr>
              <a:t>Định nghĩa Ý tưởng và Tính năng cốt lõi</a:t>
            </a:r>
            <a:endParaRPr lang="en-US" sz="6000" b="1" spc="-390" dirty="0">
              <a:solidFill>
                <a:srgbClr val="171717"/>
              </a:solidFill>
              <a:latin typeface="+mj-lt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C35036B-C772-4EBF-DB10-224FB297C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4305" y="2345530"/>
            <a:ext cx="4529344" cy="6903245"/>
          </a:xfrm>
          <a:prstGeom prst="rect">
            <a:avLst/>
          </a:prstGeom>
        </p:spPr>
      </p:pic>
      <p:grpSp>
        <p:nvGrpSpPr>
          <p:cNvPr id="17" name="Group 5">
            <a:extLst>
              <a:ext uri="{FF2B5EF4-FFF2-40B4-BE49-F238E27FC236}">
                <a16:creationId xmlns:a16="http://schemas.microsoft.com/office/drawing/2014/main" id="{35638416-2B65-9347-C64B-770F02B92F45}"/>
              </a:ext>
            </a:extLst>
          </p:cNvPr>
          <p:cNvGrpSpPr/>
          <p:nvPr/>
        </p:nvGrpSpPr>
        <p:grpSpPr>
          <a:xfrm>
            <a:off x="445706" y="4907809"/>
            <a:ext cx="4049566" cy="774178"/>
            <a:chOff x="0" y="0"/>
            <a:chExt cx="1667371" cy="203899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458555CE-A9F5-41B3-65CC-8286391F5A68}"/>
                </a:ext>
              </a:extLst>
            </p:cNvPr>
            <p:cNvSpPr/>
            <p:nvPr/>
          </p:nvSpPr>
          <p:spPr>
            <a:xfrm>
              <a:off x="0" y="0"/>
              <a:ext cx="1667371" cy="203899"/>
            </a:xfrm>
            <a:custGeom>
              <a:avLst/>
              <a:gdLst/>
              <a:ahLst/>
              <a:cxnLst/>
              <a:rect l="l" t="t" r="r" b="b"/>
              <a:pathLst>
                <a:path w="1667371" h="203899">
                  <a:moveTo>
                    <a:pt x="23235" y="0"/>
                  </a:moveTo>
                  <a:lnTo>
                    <a:pt x="1644136" y="0"/>
                  </a:lnTo>
                  <a:cubicBezTo>
                    <a:pt x="1656968" y="0"/>
                    <a:pt x="1667371" y="10403"/>
                    <a:pt x="1667371" y="23235"/>
                  </a:cubicBezTo>
                  <a:lnTo>
                    <a:pt x="1667371" y="180664"/>
                  </a:lnTo>
                  <a:cubicBezTo>
                    <a:pt x="1667371" y="193496"/>
                    <a:pt x="1656968" y="203899"/>
                    <a:pt x="1644136" y="203899"/>
                  </a:cubicBezTo>
                  <a:lnTo>
                    <a:pt x="23235" y="203899"/>
                  </a:lnTo>
                  <a:cubicBezTo>
                    <a:pt x="10403" y="203899"/>
                    <a:pt x="0" y="193496"/>
                    <a:pt x="0" y="180664"/>
                  </a:cubicBezTo>
                  <a:lnTo>
                    <a:pt x="0" y="23235"/>
                  </a:lnTo>
                  <a:cubicBezTo>
                    <a:pt x="0" y="10403"/>
                    <a:pt x="10403" y="0"/>
                    <a:pt x="23235" y="0"/>
                  </a:cubicBezTo>
                  <a:close/>
                </a:path>
              </a:pathLst>
            </a:custGeom>
            <a:solidFill>
              <a:srgbClr val="3A577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29D06E46-10D2-834D-9F95-CFD9C9ABB037}"/>
                </a:ext>
              </a:extLst>
            </p:cNvPr>
            <p:cNvSpPr txBox="1"/>
            <p:nvPr/>
          </p:nvSpPr>
          <p:spPr>
            <a:xfrm>
              <a:off x="0" y="-47625"/>
              <a:ext cx="1667371" cy="251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0" name="TextBox 8">
            <a:extLst>
              <a:ext uri="{FF2B5EF4-FFF2-40B4-BE49-F238E27FC236}">
                <a16:creationId xmlns:a16="http://schemas.microsoft.com/office/drawing/2014/main" id="{102D473A-4A24-2D86-2B4F-E4028FA33B2D}"/>
              </a:ext>
            </a:extLst>
          </p:cNvPr>
          <p:cNvSpPr txBox="1"/>
          <p:nvPr/>
        </p:nvSpPr>
        <p:spPr>
          <a:xfrm>
            <a:off x="-229180" y="5082515"/>
            <a:ext cx="5246261" cy="4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US" sz="3200" b="1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</a:t>
            </a:r>
            <a:r>
              <a:rPr lang="en-US" sz="3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3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cốt</a:t>
            </a:r>
            <a:r>
              <a:rPr lang="en-US" sz="3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endParaRPr lang="en-US" sz="3200" b="1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A089C28A-D189-0BA1-E764-33053003E3A9}"/>
              </a:ext>
            </a:extLst>
          </p:cNvPr>
          <p:cNvGrpSpPr/>
          <p:nvPr/>
        </p:nvGrpSpPr>
        <p:grpSpPr>
          <a:xfrm>
            <a:off x="7068039" y="3297574"/>
            <a:ext cx="5200161" cy="774177"/>
            <a:chOff x="0" y="0"/>
            <a:chExt cx="896620" cy="253473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7B60685C-D7C1-A2A0-C0B3-AECAC94DEC56}"/>
                </a:ext>
              </a:extLst>
            </p:cNvPr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4CF397F3-0E8D-86C7-BC8C-80E068EBE349}"/>
                </a:ext>
              </a:extLst>
            </p:cNvPr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24" name="TextBox 14">
            <a:extLst>
              <a:ext uri="{FF2B5EF4-FFF2-40B4-BE49-F238E27FC236}">
                <a16:creationId xmlns:a16="http://schemas.microsoft.com/office/drawing/2014/main" id="{3A4564E8-0CD6-16EF-9E7D-21B7BB2082A7}"/>
              </a:ext>
            </a:extLst>
          </p:cNvPr>
          <p:cNvSpPr txBox="1"/>
          <p:nvPr/>
        </p:nvSpPr>
        <p:spPr>
          <a:xfrm>
            <a:off x="7557111" y="3393764"/>
            <a:ext cx="5200161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Hiển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thị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phim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183BA3BF-811D-67D2-221A-73FB350C2CFD}"/>
              </a:ext>
            </a:extLst>
          </p:cNvPr>
          <p:cNvGrpSpPr/>
          <p:nvPr/>
        </p:nvGrpSpPr>
        <p:grpSpPr>
          <a:xfrm>
            <a:off x="7047719" y="4936103"/>
            <a:ext cx="5200161" cy="774177"/>
            <a:chOff x="0" y="0"/>
            <a:chExt cx="896620" cy="253473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BA2DCB25-1EEF-7D58-C19E-90DCE40D1991}"/>
                </a:ext>
              </a:extLst>
            </p:cNvPr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3FA4D420-253A-C9DC-1398-A0953A3E1E16}"/>
                </a:ext>
              </a:extLst>
            </p:cNvPr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28" name="TextBox 14">
            <a:extLst>
              <a:ext uri="{FF2B5EF4-FFF2-40B4-BE49-F238E27FC236}">
                <a16:creationId xmlns:a16="http://schemas.microsoft.com/office/drawing/2014/main" id="{922875F2-BD37-0AD3-7E71-0F82BA4F2B6E}"/>
              </a:ext>
            </a:extLst>
          </p:cNvPr>
          <p:cNvSpPr txBox="1"/>
          <p:nvPr/>
        </p:nvSpPr>
        <p:spPr>
          <a:xfrm>
            <a:off x="7625267" y="5023945"/>
            <a:ext cx="4528524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Hiển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thị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chi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tiết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phim</a:t>
            </a:r>
            <a:endParaRPr lang="en-US" sz="3200" b="1" i="1" u="none" strike="noStrike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29D9534F-CE51-D8A5-2647-FD8F22648D49}"/>
              </a:ext>
            </a:extLst>
          </p:cNvPr>
          <p:cNvGrpSpPr/>
          <p:nvPr/>
        </p:nvGrpSpPr>
        <p:grpSpPr>
          <a:xfrm>
            <a:off x="7114518" y="6679408"/>
            <a:ext cx="5133362" cy="832361"/>
            <a:chOff x="0" y="0"/>
            <a:chExt cx="896620" cy="253473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C48B508C-D74C-779D-C92B-DACD42C1F11E}"/>
                </a:ext>
              </a:extLst>
            </p:cNvPr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1965B3C8-42EF-A132-1A19-C5677259C3A1}"/>
                </a:ext>
              </a:extLst>
            </p:cNvPr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32" name="TextBox 14">
            <a:extLst>
              <a:ext uri="{FF2B5EF4-FFF2-40B4-BE49-F238E27FC236}">
                <a16:creationId xmlns:a16="http://schemas.microsoft.com/office/drawing/2014/main" id="{D505804B-E809-1925-3B1B-82D6CA744CE7}"/>
              </a:ext>
            </a:extLst>
          </p:cNvPr>
          <p:cNvSpPr txBox="1"/>
          <p:nvPr/>
        </p:nvSpPr>
        <p:spPr>
          <a:xfrm>
            <a:off x="7371200" y="6765088"/>
            <a:ext cx="6725799" cy="47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919"/>
              </a:lnSpc>
              <a:spcBef>
                <a:spcPct val="0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Bookmark/Favorite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endParaRPr lang="en-US" sz="3200" b="1" i="1" u="none" strike="noStrike" dirty="0">
              <a:solidFill>
                <a:srgbClr val="171717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04472BB-9745-14B7-E148-BBD4AC3DE76E}"/>
              </a:ext>
            </a:extLst>
          </p:cNvPr>
          <p:cNvCxnSpPr>
            <a:stCxn id="19" idx="3"/>
            <a:endCxn id="27" idx="1"/>
          </p:cNvCxnSpPr>
          <p:nvPr/>
        </p:nvCxnSpPr>
        <p:spPr>
          <a:xfrm>
            <a:off x="4495272" y="5204485"/>
            <a:ext cx="2552447" cy="89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C953690-06F8-1B91-3CB9-5E54DF875E00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4495272" y="3629405"/>
            <a:ext cx="2619246" cy="157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1C1B73F-44C2-A635-A7DA-8696BDEE52C6}"/>
              </a:ext>
            </a:extLst>
          </p:cNvPr>
          <p:cNvCxnSpPr>
            <a:cxnSpLocks/>
            <a:stCxn id="19" idx="3"/>
            <a:endCxn id="31" idx="1"/>
          </p:cNvCxnSpPr>
          <p:nvPr/>
        </p:nvCxnSpPr>
        <p:spPr>
          <a:xfrm>
            <a:off x="4495272" y="5204485"/>
            <a:ext cx="2619246" cy="1859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990600" y="382535"/>
            <a:ext cx="15352740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880"/>
              </a:lnSpc>
            </a:pP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Danh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Phim</a:t>
            </a:r>
            <a:endParaRPr lang="en-US" sz="6000" b="1" spc="-390" dirty="0">
              <a:solidFill>
                <a:srgbClr val="171717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0EC4789-6CBA-E136-81CC-8F7F74B28073}"/>
              </a:ext>
            </a:extLst>
          </p:cNvPr>
          <p:cNvGrpSpPr/>
          <p:nvPr/>
        </p:nvGrpSpPr>
        <p:grpSpPr>
          <a:xfrm>
            <a:off x="975360" y="4756411"/>
            <a:ext cx="4049566" cy="774178"/>
            <a:chOff x="0" y="0"/>
            <a:chExt cx="1667371" cy="20389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E148ADC-A500-7E4D-EB7C-89799F6721C5}"/>
                </a:ext>
              </a:extLst>
            </p:cNvPr>
            <p:cNvSpPr/>
            <p:nvPr/>
          </p:nvSpPr>
          <p:spPr>
            <a:xfrm>
              <a:off x="0" y="0"/>
              <a:ext cx="1667371" cy="203899"/>
            </a:xfrm>
            <a:custGeom>
              <a:avLst/>
              <a:gdLst/>
              <a:ahLst/>
              <a:cxnLst/>
              <a:rect l="l" t="t" r="r" b="b"/>
              <a:pathLst>
                <a:path w="1667371" h="203899">
                  <a:moveTo>
                    <a:pt x="23235" y="0"/>
                  </a:moveTo>
                  <a:lnTo>
                    <a:pt x="1644136" y="0"/>
                  </a:lnTo>
                  <a:cubicBezTo>
                    <a:pt x="1656968" y="0"/>
                    <a:pt x="1667371" y="10403"/>
                    <a:pt x="1667371" y="23235"/>
                  </a:cubicBezTo>
                  <a:lnTo>
                    <a:pt x="1667371" y="180664"/>
                  </a:lnTo>
                  <a:cubicBezTo>
                    <a:pt x="1667371" y="193496"/>
                    <a:pt x="1656968" y="203899"/>
                    <a:pt x="1644136" y="203899"/>
                  </a:cubicBezTo>
                  <a:lnTo>
                    <a:pt x="23235" y="203899"/>
                  </a:lnTo>
                  <a:cubicBezTo>
                    <a:pt x="10403" y="203899"/>
                    <a:pt x="0" y="193496"/>
                    <a:pt x="0" y="180664"/>
                  </a:cubicBezTo>
                  <a:lnTo>
                    <a:pt x="0" y="23235"/>
                  </a:lnTo>
                  <a:cubicBezTo>
                    <a:pt x="0" y="10403"/>
                    <a:pt x="10403" y="0"/>
                    <a:pt x="23235" y="0"/>
                  </a:cubicBezTo>
                  <a:close/>
                </a:path>
              </a:pathLst>
            </a:custGeom>
            <a:solidFill>
              <a:srgbClr val="3A577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F32A999-DE06-8CDD-F0C1-F1A6BB6C0515}"/>
                </a:ext>
              </a:extLst>
            </p:cNvPr>
            <p:cNvSpPr txBox="1"/>
            <p:nvPr/>
          </p:nvSpPr>
          <p:spPr>
            <a:xfrm>
              <a:off x="0" y="-47625"/>
              <a:ext cx="1667371" cy="251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FEC6206-D6D9-F676-7E2D-E2032B2A4D25}"/>
              </a:ext>
            </a:extLst>
          </p:cNvPr>
          <p:cNvSpPr txBox="1"/>
          <p:nvPr/>
        </p:nvSpPr>
        <p:spPr>
          <a:xfrm>
            <a:off x="-1574988" y="4783504"/>
            <a:ext cx="9144000" cy="563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US" sz="3200" b="1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sz="3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phần</a:t>
            </a:r>
            <a:endParaRPr lang="en-US" sz="3200" b="1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538617FF-9A4F-7040-94F7-98145F21C651}"/>
              </a:ext>
            </a:extLst>
          </p:cNvPr>
          <p:cNvGrpSpPr/>
          <p:nvPr/>
        </p:nvGrpSpPr>
        <p:grpSpPr>
          <a:xfrm>
            <a:off x="8044267" y="8232476"/>
            <a:ext cx="2966907" cy="701040"/>
            <a:chOff x="0" y="0"/>
            <a:chExt cx="896620" cy="253473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F6D6EDBA-43DD-E3AF-E58E-02E8A8BA8B6C}"/>
                </a:ext>
              </a:extLst>
            </p:cNvPr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8FEBE064-AB07-8F35-A2B7-AE142924E7BA}"/>
                </a:ext>
              </a:extLst>
            </p:cNvPr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15" name="Group 2">
            <a:extLst>
              <a:ext uri="{FF2B5EF4-FFF2-40B4-BE49-F238E27FC236}">
                <a16:creationId xmlns:a16="http://schemas.microsoft.com/office/drawing/2014/main" id="{8949BF41-5960-10BA-2BBF-87D62556DDB5}"/>
              </a:ext>
            </a:extLst>
          </p:cNvPr>
          <p:cNvGrpSpPr/>
          <p:nvPr/>
        </p:nvGrpSpPr>
        <p:grpSpPr>
          <a:xfrm>
            <a:off x="8044268" y="6683959"/>
            <a:ext cx="2885726" cy="701040"/>
            <a:chOff x="0" y="0"/>
            <a:chExt cx="896620" cy="253473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4EC77453-42ED-7E62-4D1A-23458E725E90}"/>
                </a:ext>
              </a:extLst>
            </p:cNvPr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1A47BF7C-E512-9BD9-6B5D-81AC253D8CF1}"/>
                </a:ext>
              </a:extLst>
            </p:cNvPr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22" name="Group 2">
            <a:extLst>
              <a:ext uri="{FF2B5EF4-FFF2-40B4-BE49-F238E27FC236}">
                <a16:creationId xmlns:a16="http://schemas.microsoft.com/office/drawing/2014/main" id="{2A6059C7-2CD4-6C60-8F50-718F25F84CCD}"/>
              </a:ext>
            </a:extLst>
          </p:cNvPr>
          <p:cNvGrpSpPr/>
          <p:nvPr/>
        </p:nvGrpSpPr>
        <p:grpSpPr>
          <a:xfrm>
            <a:off x="8044267" y="5082755"/>
            <a:ext cx="2885727" cy="701040"/>
            <a:chOff x="0" y="0"/>
            <a:chExt cx="896620" cy="253473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A8D0313D-CC43-FDCD-F1C0-8F9A60436C32}"/>
                </a:ext>
              </a:extLst>
            </p:cNvPr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341DF76F-7564-0391-F768-8132C3FF6D4E}"/>
                </a:ext>
              </a:extLst>
            </p:cNvPr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25" name="Group 2">
            <a:extLst>
              <a:ext uri="{FF2B5EF4-FFF2-40B4-BE49-F238E27FC236}">
                <a16:creationId xmlns:a16="http://schemas.microsoft.com/office/drawing/2014/main" id="{F02C4D21-C826-F8CC-51CC-B11D5B9A6F9B}"/>
              </a:ext>
            </a:extLst>
          </p:cNvPr>
          <p:cNvGrpSpPr/>
          <p:nvPr/>
        </p:nvGrpSpPr>
        <p:grpSpPr>
          <a:xfrm>
            <a:off x="8089887" y="3743869"/>
            <a:ext cx="2885728" cy="701040"/>
            <a:chOff x="0" y="0"/>
            <a:chExt cx="896620" cy="253473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500F2361-5D19-AC62-5145-F3EAECF35422}"/>
                </a:ext>
              </a:extLst>
            </p:cNvPr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617E17B3-B2AE-18AC-F8EC-646C4C851BFC}"/>
                </a:ext>
              </a:extLst>
            </p:cNvPr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EAAB9DB6-1BE8-46FE-2D09-86275B985556}"/>
              </a:ext>
            </a:extLst>
          </p:cNvPr>
          <p:cNvGrpSpPr/>
          <p:nvPr/>
        </p:nvGrpSpPr>
        <p:grpSpPr>
          <a:xfrm>
            <a:off x="8125447" y="2115551"/>
            <a:ext cx="2885728" cy="701040"/>
            <a:chOff x="0" y="0"/>
            <a:chExt cx="896620" cy="253473"/>
          </a:xfrm>
        </p:grpSpPr>
        <p:sp>
          <p:nvSpPr>
            <p:cNvPr id="35" name="Freeform 3">
              <a:extLst>
                <a:ext uri="{FF2B5EF4-FFF2-40B4-BE49-F238E27FC236}">
                  <a16:creationId xmlns:a16="http://schemas.microsoft.com/office/drawing/2014/main" id="{8F10B2BD-0FB0-B4CD-7F45-AE6A576E281D}"/>
                </a:ext>
              </a:extLst>
            </p:cNvPr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4">
              <a:extLst>
                <a:ext uri="{FF2B5EF4-FFF2-40B4-BE49-F238E27FC236}">
                  <a16:creationId xmlns:a16="http://schemas.microsoft.com/office/drawing/2014/main" id="{9F70FA84-82B6-075C-F8E8-4DAED058777A}"/>
                </a:ext>
              </a:extLst>
            </p:cNvPr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AAF4341-8D5D-C531-BAC6-A1E89462B262}"/>
              </a:ext>
            </a:extLst>
          </p:cNvPr>
          <p:cNvSpPr txBox="1"/>
          <p:nvPr/>
        </p:nvSpPr>
        <p:spPr>
          <a:xfrm>
            <a:off x="8344175" y="2210606"/>
            <a:ext cx="2981672" cy="563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Poster Phim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276CC3-F74F-8705-36A3-D00BEA1901CC}"/>
              </a:ext>
            </a:extLst>
          </p:cNvPr>
          <p:cNvSpPr txBox="1"/>
          <p:nvPr/>
        </p:nvSpPr>
        <p:spPr>
          <a:xfrm>
            <a:off x="8725175" y="3786237"/>
            <a:ext cx="3174812" cy="563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phim</a:t>
            </a:r>
            <a:endParaRPr lang="en-US" sz="3200" b="1" i="1" u="none" strike="noStrike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C79647-005B-845B-94AB-35C85AF2DB58}"/>
              </a:ext>
            </a:extLst>
          </p:cNvPr>
          <p:cNvSpPr txBox="1"/>
          <p:nvPr/>
        </p:nvSpPr>
        <p:spPr>
          <a:xfrm>
            <a:off x="8750575" y="5132747"/>
            <a:ext cx="3255992" cy="563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endParaRPr lang="en-US" sz="3200" b="1" i="1" u="none" strike="noStrike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A9A84F-A762-6F9C-8C86-864AEC5D4798}"/>
              </a:ext>
            </a:extLst>
          </p:cNvPr>
          <p:cNvSpPr txBox="1"/>
          <p:nvPr/>
        </p:nvSpPr>
        <p:spPr>
          <a:xfrm>
            <a:off x="8600702" y="6743700"/>
            <a:ext cx="10190480" cy="563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Thể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u="none" strike="noStrike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sz="3200" b="1" i="1" u="none" strike="noStrike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65494D-30BD-EEEB-B805-58B09C5D69F3}"/>
              </a:ext>
            </a:extLst>
          </p:cNvPr>
          <p:cNvSpPr txBox="1"/>
          <p:nvPr/>
        </p:nvSpPr>
        <p:spPr>
          <a:xfrm>
            <a:off x="8704855" y="8343448"/>
            <a:ext cx="10190480" cy="563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3200" b="1" i="1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Đánh</a:t>
            </a:r>
            <a:r>
              <a:rPr lang="en-US" sz="3200" b="1" i="1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1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</a:t>
            </a:r>
            <a:endParaRPr lang="en-US" sz="3200" b="1" i="1" u="none" strike="noStrike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F88BD3D-DE16-5610-8567-244C57F377EB}"/>
              </a:ext>
            </a:extLst>
          </p:cNvPr>
          <p:cNvCxnSpPr/>
          <p:nvPr/>
        </p:nvCxnSpPr>
        <p:spPr>
          <a:xfrm flipV="1">
            <a:off x="5024926" y="2466071"/>
            <a:ext cx="3100521" cy="2616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6DB8DE5-2D8E-F6DD-4586-A6242586905E}"/>
              </a:ext>
            </a:extLst>
          </p:cNvPr>
          <p:cNvCxnSpPr/>
          <p:nvPr/>
        </p:nvCxnSpPr>
        <p:spPr>
          <a:xfrm flipV="1">
            <a:off x="5024926" y="4068045"/>
            <a:ext cx="3064961" cy="105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E44A929-8DE5-F4CE-D96E-C4B699EFF1F7}"/>
              </a:ext>
            </a:extLst>
          </p:cNvPr>
          <p:cNvCxnSpPr/>
          <p:nvPr/>
        </p:nvCxnSpPr>
        <p:spPr>
          <a:xfrm>
            <a:off x="5024926" y="5030068"/>
            <a:ext cx="3019341" cy="403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BFCE2C-B195-9BFE-208B-A546E19D5B95}"/>
              </a:ext>
            </a:extLst>
          </p:cNvPr>
          <p:cNvCxnSpPr/>
          <p:nvPr/>
        </p:nvCxnSpPr>
        <p:spPr>
          <a:xfrm>
            <a:off x="5024926" y="5030068"/>
            <a:ext cx="3100521" cy="1978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D595747-D2ED-5908-C8DB-2BB6E9D56790}"/>
              </a:ext>
            </a:extLst>
          </p:cNvPr>
          <p:cNvCxnSpPr/>
          <p:nvPr/>
        </p:nvCxnSpPr>
        <p:spPr>
          <a:xfrm>
            <a:off x="5024926" y="5030068"/>
            <a:ext cx="3064961" cy="3552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E0C87D27-0074-9C4D-C601-822EAD678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769" y="3526529"/>
            <a:ext cx="6358932" cy="3552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F45B23B-FF23-9F2B-B684-3A870354384B}"/>
              </a:ext>
            </a:extLst>
          </p:cNvPr>
          <p:cNvSpPr txBox="1"/>
          <p:nvPr/>
        </p:nvSpPr>
        <p:spPr>
          <a:xfrm>
            <a:off x="2346449" y="366817"/>
            <a:ext cx="13595101" cy="84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5880"/>
              </a:lnSpc>
            </a:pPr>
            <a:r>
              <a:rPr lang="en-US" sz="54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Sử</a:t>
            </a:r>
            <a:r>
              <a:rPr lang="en-US" sz="54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54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dụng</a:t>
            </a:r>
            <a:r>
              <a:rPr lang="en-US" sz="54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Components  ( Thành </a:t>
            </a:r>
            <a:r>
              <a:rPr lang="en-US" sz="54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phần</a:t>
            </a:r>
            <a:r>
              <a:rPr lang="en-US" sz="54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54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tái</a:t>
            </a:r>
            <a:r>
              <a:rPr lang="en-US" sz="54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54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sử</a:t>
            </a:r>
            <a:r>
              <a:rPr lang="en-US" sz="54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54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dụng</a:t>
            </a:r>
            <a:r>
              <a:rPr lang="en-US" sz="54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A6107-9309-7D36-2D17-4BEFB7BED9FF}"/>
              </a:ext>
            </a:extLst>
          </p:cNvPr>
          <p:cNvSpPr txBox="1"/>
          <p:nvPr/>
        </p:nvSpPr>
        <p:spPr>
          <a:xfrm>
            <a:off x="990599" y="1638300"/>
            <a:ext cx="163068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mẫu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thể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dung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nhiều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endParaRPr lang="en-US" sz="3600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F6FB7-3873-33A3-2BD8-998366B6539B}"/>
              </a:ext>
            </a:extLst>
          </p:cNvPr>
          <p:cNvSpPr txBox="1"/>
          <p:nvPr/>
        </p:nvSpPr>
        <p:spPr>
          <a:xfrm>
            <a:off x="753976" y="2619214"/>
            <a:ext cx="22098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Ví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EBFBDF-B39B-42E1-D883-6822AEF20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245774"/>
            <a:ext cx="4082694" cy="630019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4699486-3F89-67E8-967F-6DCA7C6E73B2}"/>
              </a:ext>
            </a:extLst>
          </p:cNvPr>
          <p:cNvSpPr txBox="1"/>
          <p:nvPr/>
        </p:nvSpPr>
        <p:spPr>
          <a:xfrm>
            <a:off x="8477781" y="2779615"/>
            <a:ext cx="22098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Lợi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ích</a:t>
            </a:r>
            <a:endParaRPr lang="en-US" sz="3600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F29D9607-1DA8-DFAD-92FE-F283B2538DB8}"/>
              </a:ext>
            </a:extLst>
          </p:cNvPr>
          <p:cNvGrpSpPr/>
          <p:nvPr/>
        </p:nvGrpSpPr>
        <p:grpSpPr>
          <a:xfrm>
            <a:off x="395382" y="2633403"/>
            <a:ext cx="2548341" cy="636998"/>
            <a:chOff x="0" y="-19050"/>
            <a:chExt cx="1079023" cy="272523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DD239DA6-EB1B-4B02-CCDB-6F3C56587534}"/>
                </a:ext>
              </a:extLst>
            </p:cNvPr>
            <p:cNvSpPr/>
            <p:nvPr/>
          </p:nvSpPr>
          <p:spPr>
            <a:xfrm>
              <a:off x="182403" y="-10536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313B0E96-EA33-8AEA-0485-5F7E4538A905}"/>
                </a:ext>
              </a:extLst>
            </p:cNvPr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25" name="Group 2">
            <a:extLst>
              <a:ext uri="{FF2B5EF4-FFF2-40B4-BE49-F238E27FC236}">
                <a16:creationId xmlns:a16="http://schemas.microsoft.com/office/drawing/2014/main" id="{6C720434-9174-A272-3776-F8D694205B9D}"/>
              </a:ext>
            </a:extLst>
          </p:cNvPr>
          <p:cNvGrpSpPr/>
          <p:nvPr/>
        </p:nvGrpSpPr>
        <p:grpSpPr>
          <a:xfrm>
            <a:off x="8477781" y="2725330"/>
            <a:ext cx="2479818" cy="701040"/>
            <a:chOff x="0" y="0"/>
            <a:chExt cx="896620" cy="253473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BB5A2EBF-FA93-0701-CCC1-78D9D4FC15AF}"/>
                </a:ext>
              </a:extLst>
            </p:cNvPr>
            <p:cNvSpPr/>
            <p:nvPr/>
          </p:nvSpPr>
          <p:spPr>
            <a:xfrm>
              <a:off x="0" y="0"/>
              <a:ext cx="896620" cy="253473"/>
            </a:xfrm>
            <a:custGeom>
              <a:avLst/>
              <a:gdLst/>
              <a:ahLst/>
              <a:cxnLst/>
              <a:rect l="l" t="t" r="r" b="b"/>
              <a:pathLst>
                <a:path w="896620" h="253473">
                  <a:moveTo>
                    <a:pt x="126737" y="0"/>
                  </a:moveTo>
                  <a:lnTo>
                    <a:pt x="769884" y="0"/>
                  </a:lnTo>
                  <a:cubicBezTo>
                    <a:pt x="803497" y="0"/>
                    <a:pt x="835733" y="13353"/>
                    <a:pt x="859500" y="37120"/>
                  </a:cubicBezTo>
                  <a:cubicBezTo>
                    <a:pt x="883268" y="60888"/>
                    <a:pt x="896620" y="93124"/>
                    <a:pt x="896620" y="126737"/>
                  </a:cubicBezTo>
                  <a:lnTo>
                    <a:pt x="896620" y="126737"/>
                  </a:lnTo>
                  <a:cubicBezTo>
                    <a:pt x="896620" y="160349"/>
                    <a:pt x="883268" y="192585"/>
                    <a:pt x="859500" y="216353"/>
                  </a:cubicBezTo>
                  <a:cubicBezTo>
                    <a:pt x="835733" y="240121"/>
                    <a:pt x="803497" y="253473"/>
                    <a:pt x="769884" y="253473"/>
                  </a:cubicBezTo>
                  <a:lnTo>
                    <a:pt x="126737" y="253473"/>
                  </a:lnTo>
                  <a:cubicBezTo>
                    <a:pt x="93124" y="253473"/>
                    <a:pt x="60888" y="240121"/>
                    <a:pt x="37120" y="216353"/>
                  </a:cubicBezTo>
                  <a:cubicBezTo>
                    <a:pt x="13353" y="192585"/>
                    <a:pt x="0" y="160349"/>
                    <a:pt x="0" y="126737"/>
                  </a:cubicBezTo>
                  <a:lnTo>
                    <a:pt x="0" y="126737"/>
                  </a:lnTo>
                  <a:cubicBezTo>
                    <a:pt x="0" y="93124"/>
                    <a:pt x="13353" y="60888"/>
                    <a:pt x="37120" y="37120"/>
                  </a:cubicBezTo>
                  <a:cubicBezTo>
                    <a:pt x="60888" y="13353"/>
                    <a:pt x="93124" y="0"/>
                    <a:pt x="126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B8FF7E5D-FAE9-829C-B832-6B662101538A}"/>
                </a:ext>
              </a:extLst>
            </p:cNvPr>
            <p:cNvSpPr txBox="1"/>
            <p:nvPr/>
          </p:nvSpPr>
          <p:spPr>
            <a:xfrm>
              <a:off x="0" y="-19050"/>
              <a:ext cx="896620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grpSp>
        <p:nvGrpSpPr>
          <p:cNvPr id="28" name="Group 5">
            <a:extLst>
              <a:ext uri="{FF2B5EF4-FFF2-40B4-BE49-F238E27FC236}">
                <a16:creationId xmlns:a16="http://schemas.microsoft.com/office/drawing/2014/main" id="{50351320-F809-8429-61B1-B32A73156911}"/>
              </a:ext>
            </a:extLst>
          </p:cNvPr>
          <p:cNvGrpSpPr/>
          <p:nvPr/>
        </p:nvGrpSpPr>
        <p:grpSpPr>
          <a:xfrm>
            <a:off x="8574035" y="3908898"/>
            <a:ext cx="9028165" cy="3095661"/>
            <a:chOff x="0" y="0"/>
            <a:chExt cx="2556838" cy="1119289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AC66C3DE-DF0D-F96F-C5B3-40CFED67D6BE}"/>
                </a:ext>
              </a:extLst>
            </p:cNvPr>
            <p:cNvSpPr/>
            <p:nvPr/>
          </p:nvSpPr>
          <p:spPr>
            <a:xfrm>
              <a:off x="0" y="0"/>
              <a:ext cx="2556838" cy="1119289"/>
            </a:xfrm>
            <a:custGeom>
              <a:avLst/>
              <a:gdLst/>
              <a:ahLst/>
              <a:cxnLst/>
              <a:rect l="l" t="t" r="r" b="b"/>
              <a:pathLst>
                <a:path w="2556838" h="1119289">
                  <a:moveTo>
                    <a:pt x="55835" y="0"/>
                  </a:moveTo>
                  <a:lnTo>
                    <a:pt x="2501003" y="0"/>
                  </a:lnTo>
                  <a:cubicBezTo>
                    <a:pt x="2531840" y="0"/>
                    <a:pt x="2556838" y="24998"/>
                    <a:pt x="2556838" y="55835"/>
                  </a:cubicBezTo>
                  <a:lnTo>
                    <a:pt x="2556838" y="1063454"/>
                  </a:lnTo>
                  <a:cubicBezTo>
                    <a:pt x="2556838" y="1078262"/>
                    <a:pt x="2550955" y="1092464"/>
                    <a:pt x="2540484" y="1102935"/>
                  </a:cubicBezTo>
                  <a:cubicBezTo>
                    <a:pt x="2530013" y="1113406"/>
                    <a:pt x="2515812" y="1119289"/>
                    <a:pt x="2501003" y="1119289"/>
                  </a:cubicBezTo>
                  <a:lnTo>
                    <a:pt x="55835" y="1119289"/>
                  </a:lnTo>
                  <a:cubicBezTo>
                    <a:pt x="41026" y="1119289"/>
                    <a:pt x="26825" y="1113406"/>
                    <a:pt x="16354" y="1102935"/>
                  </a:cubicBezTo>
                  <a:cubicBezTo>
                    <a:pt x="5883" y="1092464"/>
                    <a:pt x="0" y="1078262"/>
                    <a:pt x="0" y="1063454"/>
                  </a:cubicBezTo>
                  <a:lnTo>
                    <a:pt x="0" y="55835"/>
                  </a:lnTo>
                  <a:cubicBezTo>
                    <a:pt x="0" y="41026"/>
                    <a:pt x="5883" y="26825"/>
                    <a:pt x="16354" y="16354"/>
                  </a:cubicBezTo>
                  <a:cubicBezTo>
                    <a:pt x="26825" y="5883"/>
                    <a:pt x="41026" y="0"/>
                    <a:pt x="558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3BC5091D-232D-C33D-A27B-BD0E5D73918E}"/>
                </a:ext>
              </a:extLst>
            </p:cNvPr>
            <p:cNvSpPr txBox="1"/>
            <p:nvPr/>
          </p:nvSpPr>
          <p:spPr>
            <a:xfrm>
              <a:off x="0" y="-19050"/>
              <a:ext cx="2556838" cy="1138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 sz="320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2C9FD04-C484-3A7D-7C5E-9AF2E7BE5B5F}"/>
              </a:ext>
            </a:extLst>
          </p:cNvPr>
          <p:cNvSpPr txBox="1"/>
          <p:nvPr/>
        </p:nvSpPr>
        <p:spPr>
          <a:xfrm>
            <a:off x="8586067" y="4189001"/>
            <a:ext cx="9204158" cy="248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Tái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nhanh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chóng</a:t>
            </a:r>
            <a:endParaRPr lang="en-US" sz="3600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đổi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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Áp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dụng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cho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toàn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bộ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 app</a:t>
            </a:r>
          </a:p>
          <a:p>
            <a:pPr marL="604519" lvl="1" indent="-302260" algn="just">
              <a:lnSpc>
                <a:spcPct val="150000"/>
              </a:lnSpc>
              <a:buFont typeface="Arial"/>
              <a:buChar char="•"/>
            </a:pP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Tính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thống</a:t>
            </a:r>
            <a:r>
              <a:rPr lang="en-US" sz="36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36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Wingdings" panose="05000000000000000000" pitchFamily="2" charset="2"/>
              </a:rPr>
              <a:t>nhất</a:t>
            </a:r>
            <a:endParaRPr lang="en-US" sz="3600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849309" y="647700"/>
            <a:ext cx="14589381" cy="765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5880"/>
              </a:lnSpc>
            </a:pPr>
            <a:r>
              <a:rPr lang="vi-VN" sz="6000" b="1" dirty="0">
                <a:latin typeface="+mj-lt"/>
              </a:rPr>
              <a:t>Quy trình Lặp lại và Đưa ra Quyết định</a:t>
            </a:r>
            <a:endParaRPr lang="en-US" sz="6000" b="1" spc="-390" dirty="0">
              <a:solidFill>
                <a:srgbClr val="171717"/>
              </a:solidFill>
              <a:latin typeface="+mj-lt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6D4BA-1052-DE2E-FC6B-2597FDDE3DA8}"/>
              </a:ext>
            </a:extLst>
          </p:cNvPr>
          <p:cNvSpPr txBox="1"/>
          <p:nvPr/>
        </p:nvSpPr>
        <p:spPr>
          <a:xfrm>
            <a:off x="1409699" y="2476500"/>
            <a:ext cx="1546860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Reviewing the Current List Implementation.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▸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▸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(iteration ▸ prototyping ▸ feedback)</a:t>
            </a:r>
            <a:endParaRPr lang="en-US" sz="3600" dirty="0">
              <a:solidFill>
                <a:srgbClr val="171717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DEDFA-B447-7116-CEC3-330C2BDE91E7}"/>
              </a:ext>
            </a:extLst>
          </p:cNvPr>
          <p:cNvSpPr txBox="1"/>
          <p:nvPr/>
        </p:nvSpPr>
        <p:spPr>
          <a:xfrm>
            <a:off x="1849309" y="5905500"/>
            <a:ext cx="15028990" cy="175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800" b="1" dirty="0">
                <a:latin typeface="+mj-lt"/>
              </a:rPr>
              <a:t>Quyết định quan trọng</a:t>
            </a:r>
            <a:r>
              <a:rPr lang="vi-VN" sz="3800" dirty="0">
                <a:latin typeface="+mj-lt"/>
              </a:rPr>
              <a:t>: Tính năng "favorite" được đổi thành "Add to Watchlist" vì nó cung cấp mô tả chức năng rõ ràng hơn</a:t>
            </a:r>
            <a:endParaRPr lang="en-US" sz="38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762000" y="2171700"/>
            <a:ext cx="14810739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>
              <a:lnSpc>
                <a:spcPts val="4199"/>
              </a:lnSpc>
            </a:pPr>
            <a:r>
              <a:rPr lang="en-US" sz="40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 người dung chọn lọc phim theo sở thích</a:t>
            </a:r>
            <a:endParaRPr lang="en-US" sz="4000" dirty="0">
              <a:solidFill>
                <a:srgbClr val="1717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2000" y="3379774"/>
            <a:ext cx="9525000" cy="1736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just">
              <a:lnSpc>
                <a:spcPct val="150000"/>
              </a:lnSpc>
            </a:pP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Tác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nút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Filter </a:t>
            </a: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nhỏ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ở </a:t>
            </a: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góc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dưới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màn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400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735FF-D5EE-52BA-60D8-00648AAA7F6D}"/>
              </a:ext>
            </a:extLst>
          </p:cNvPr>
          <p:cNvSpPr txBox="1"/>
          <p:nvPr/>
        </p:nvSpPr>
        <p:spPr>
          <a:xfrm>
            <a:off x="4547937" y="653285"/>
            <a:ext cx="9192126" cy="84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5880"/>
              </a:lnSpc>
            </a:pP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Tính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năng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lọc</a:t>
            </a:r>
            <a:endParaRPr lang="en-US" sz="6000" b="1" spc="-390" dirty="0">
              <a:solidFill>
                <a:srgbClr val="171717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38C971-9753-A506-F3E9-6ED7E9F2D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5785292"/>
            <a:ext cx="8077200" cy="28383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049745C-5D20-8E2A-F4F1-3D17BA4AD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399" y="2208231"/>
            <a:ext cx="6008083" cy="7425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60420" y="818311"/>
            <a:ext cx="12567161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</a:pP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Cải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tiến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và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hoàn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thiện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B3952E77-8850-2F03-3137-29841A3D26B1}"/>
              </a:ext>
            </a:extLst>
          </p:cNvPr>
          <p:cNvSpPr txBox="1"/>
          <p:nvPr/>
        </p:nvSpPr>
        <p:spPr>
          <a:xfrm>
            <a:off x="838200" y="1866900"/>
            <a:ext cx="16992600" cy="2407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Ở </a:t>
            </a:r>
            <a:r>
              <a:rPr lang="en-US" sz="3600" dirty="0" err="1"/>
              <a:t>bước</a:t>
            </a:r>
            <a:r>
              <a:rPr lang="en-US" sz="3600" dirty="0"/>
              <a:t> </a:t>
            </a:r>
            <a:r>
              <a:rPr lang="en-US" sz="3600" dirty="0" err="1"/>
              <a:t>cuối</a:t>
            </a:r>
            <a:r>
              <a:rPr lang="en-US" sz="3600" dirty="0"/>
              <a:t>, </a:t>
            </a:r>
            <a:r>
              <a:rPr lang="en-US" sz="3600" dirty="0" err="1"/>
              <a:t>nút</a:t>
            </a:r>
            <a:r>
              <a:rPr lang="en-US" sz="3600" dirty="0"/>
              <a:t> “Add to Watchlist” </a:t>
            </a:r>
            <a:r>
              <a:rPr lang="en-US" sz="3600" dirty="0" err="1"/>
              <a:t>được</a:t>
            </a:r>
            <a:r>
              <a:rPr lang="en-US" sz="3600" dirty="0"/>
              <a:t> </a:t>
            </a:r>
            <a:r>
              <a:rPr lang="en-US" sz="3600" dirty="0" err="1"/>
              <a:t>thêm</a:t>
            </a:r>
            <a:r>
              <a:rPr lang="en-US" sz="3600" dirty="0"/>
              <a:t> </a:t>
            </a:r>
            <a:r>
              <a:rPr lang="en-US" sz="3600" dirty="0" err="1"/>
              <a:t>một</a:t>
            </a:r>
            <a:r>
              <a:rPr lang="en-US" sz="3600" dirty="0"/>
              <a:t> </a:t>
            </a:r>
            <a:r>
              <a:rPr lang="en-US" sz="3600" dirty="0" err="1"/>
              <a:t>trạng</a:t>
            </a:r>
            <a:r>
              <a:rPr lang="en-US" sz="3600" dirty="0"/>
              <a:t> </a:t>
            </a:r>
            <a:r>
              <a:rPr lang="en-US" sz="3600" dirty="0" err="1"/>
              <a:t>thái</a:t>
            </a:r>
            <a:r>
              <a:rPr lang="en-US" sz="3600" dirty="0"/>
              <a:t> </a:t>
            </a:r>
            <a:r>
              <a:rPr lang="en-US" sz="3600" dirty="0" err="1"/>
              <a:t>mới</a:t>
            </a:r>
            <a:r>
              <a:rPr lang="en-US" sz="3600" dirty="0"/>
              <a:t>:</a:t>
            </a:r>
          </a:p>
          <a:p>
            <a:pPr lvl="0">
              <a:lnSpc>
                <a:spcPct val="150000"/>
              </a:lnSpc>
            </a:pPr>
            <a:r>
              <a:rPr lang="en-US" sz="3600" dirty="0"/>
              <a:t>   - </a:t>
            </a:r>
            <a:r>
              <a:rPr lang="en-US" sz="3600" dirty="0" err="1"/>
              <a:t>Nếu</a:t>
            </a:r>
            <a:r>
              <a:rPr lang="en-US" sz="3600" dirty="0"/>
              <a:t> </a:t>
            </a:r>
            <a:r>
              <a:rPr lang="en-US" sz="3600" dirty="0" err="1"/>
              <a:t>phim</a:t>
            </a:r>
            <a:r>
              <a:rPr lang="en-US" sz="3600" dirty="0"/>
              <a:t> </a:t>
            </a:r>
            <a:r>
              <a:rPr lang="en-US" sz="3600" dirty="0" err="1"/>
              <a:t>chưa</a:t>
            </a:r>
            <a:r>
              <a:rPr lang="en-US" sz="3600" dirty="0"/>
              <a:t> </a:t>
            </a:r>
            <a:r>
              <a:rPr lang="en-US" sz="3600" dirty="0" err="1"/>
              <a:t>xem</a:t>
            </a:r>
            <a:r>
              <a:rPr lang="en-US" sz="3600" dirty="0"/>
              <a:t> </a:t>
            </a:r>
            <a:r>
              <a:rPr lang="en-US" sz="3600" dirty="0" err="1"/>
              <a:t>thì</a:t>
            </a:r>
            <a:r>
              <a:rPr lang="en-US" sz="3600" dirty="0"/>
              <a:t> </a:t>
            </a:r>
            <a:r>
              <a:rPr lang="en-US" sz="3600" dirty="0" err="1"/>
              <a:t>nút</a:t>
            </a:r>
            <a:r>
              <a:rPr lang="en-US" sz="3600" dirty="0"/>
              <a:t> </a:t>
            </a:r>
            <a:r>
              <a:rPr lang="en-US" sz="3600" dirty="0" err="1"/>
              <a:t>hiển</a:t>
            </a:r>
            <a:r>
              <a:rPr lang="en-US" sz="3600" dirty="0"/>
              <a:t> </a:t>
            </a:r>
            <a:r>
              <a:rPr lang="en-US" sz="3600" dirty="0" err="1"/>
              <a:t>thị</a:t>
            </a:r>
            <a:r>
              <a:rPr lang="en-US" sz="3600" dirty="0"/>
              <a:t> “Add to Watchlist”.</a:t>
            </a:r>
          </a:p>
          <a:p>
            <a:pPr lvl="0">
              <a:lnSpc>
                <a:spcPct val="150000"/>
              </a:lnSpc>
            </a:pPr>
            <a:r>
              <a:rPr lang="en-US" sz="3600" dirty="0"/>
              <a:t>   - </a:t>
            </a:r>
            <a:r>
              <a:rPr lang="en-US" sz="3600" dirty="0" err="1"/>
              <a:t>Còn</a:t>
            </a:r>
            <a:r>
              <a:rPr lang="en-US" sz="3600" dirty="0"/>
              <a:t> </a:t>
            </a:r>
            <a:r>
              <a:rPr lang="en-US" sz="3600" dirty="0" err="1"/>
              <a:t>nếu</a:t>
            </a:r>
            <a:r>
              <a:rPr lang="en-US" sz="3600" dirty="0"/>
              <a:t> </a:t>
            </a:r>
            <a:r>
              <a:rPr lang="en-US" sz="3600" dirty="0" err="1"/>
              <a:t>phim</a:t>
            </a:r>
            <a:r>
              <a:rPr lang="en-US" sz="3600" dirty="0"/>
              <a:t> </a:t>
            </a:r>
            <a:r>
              <a:rPr lang="en-US" sz="3600" dirty="0" err="1"/>
              <a:t>đã</a:t>
            </a:r>
            <a:r>
              <a:rPr lang="en-US" sz="3600" dirty="0"/>
              <a:t> </a:t>
            </a:r>
            <a:r>
              <a:rPr lang="en-US" sz="3600" dirty="0" err="1"/>
              <a:t>xem</a:t>
            </a:r>
            <a:r>
              <a:rPr lang="en-US" sz="3600" dirty="0"/>
              <a:t> </a:t>
            </a:r>
            <a:r>
              <a:rPr lang="en-US" sz="3600" dirty="0" err="1"/>
              <a:t>rồi</a:t>
            </a:r>
            <a:r>
              <a:rPr lang="en-US" sz="3600" dirty="0"/>
              <a:t> </a:t>
            </a:r>
            <a:r>
              <a:rPr lang="en-US" sz="3600" dirty="0" err="1"/>
              <a:t>thì</a:t>
            </a:r>
            <a:r>
              <a:rPr lang="en-US" sz="3600" dirty="0"/>
              <a:t> </a:t>
            </a:r>
            <a:r>
              <a:rPr lang="en-US" sz="3600" dirty="0" err="1"/>
              <a:t>đổi</a:t>
            </a:r>
            <a:r>
              <a:rPr lang="en-US" sz="3600" dirty="0"/>
              <a:t> </a:t>
            </a:r>
            <a:r>
              <a:rPr lang="en-US" sz="3600" dirty="0" err="1"/>
              <a:t>thành</a:t>
            </a:r>
            <a:r>
              <a:rPr lang="en-US" sz="3600" dirty="0"/>
              <a:t> “Mark as Seen”.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1C35B91-BAEA-466C-B360-A4686B750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89" y="4838700"/>
            <a:ext cx="16992600" cy="4248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575255" y="715574"/>
            <a:ext cx="10177386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</a:pP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Ý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nghĩa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và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ra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rút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ra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bài</a:t>
            </a:r>
            <a:r>
              <a:rPr lang="en-US" sz="6000" b="1" spc="-390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6000" b="1" spc="-390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học</a:t>
            </a:r>
            <a:endParaRPr lang="en-US" sz="6000" b="1" spc="-390" dirty="0">
              <a:solidFill>
                <a:srgbClr val="171717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79302" y="2247900"/>
            <a:ext cx="16508698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Wireframing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không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chỉ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là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vẽ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giao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diện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mà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còn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là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cách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tư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duy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về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sản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phẩm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 Bold"/>
              </a:rPr>
              <a:t> 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9659D5-5B68-EFE9-3B01-4D089A5172BB}"/>
              </a:ext>
            </a:extLst>
          </p:cNvPr>
          <p:cNvSpPr txBox="1"/>
          <p:nvPr/>
        </p:nvSpPr>
        <p:spPr>
          <a:xfrm>
            <a:off x="1600200" y="2925393"/>
            <a:ext cx="16524740" cy="369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4000" dirty="0" err="1"/>
              <a:t>Giúp</a:t>
            </a:r>
            <a:r>
              <a:rPr lang="en-US" sz="40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4000" dirty="0" err="1"/>
              <a:t>Thử</a:t>
            </a:r>
            <a:r>
              <a:rPr lang="en-US" sz="4000" dirty="0"/>
              <a:t> </a:t>
            </a:r>
            <a:r>
              <a:rPr lang="en-US" sz="4000" dirty="0" err="1"/>
              <a:t>nghiệm</a:t>
            </a:r>
            <a:r>
              <a:rPr lang="en-US" sz="4000" dirty="0"/>
              <a:t> </a:t>
            </a:r>
            <a:r>
              <a:rPr lang="en-US" sz="4000" dirty="0" err="1"/>
              <a:t>nhanh</a:t>
            </a:r>
            <a:r>
              <a:rPr lang="en-US" sz="4000" dirty="0"/>
              <a:t> </a:t>
            </a:r>
            <a:r>
              <a:rPr lang="en-US" sz="4000" dirty="0" err="1"/>
              <a:t>các</a:t>
            </a:r>
            <a:r>
              <a:rPr lang="en-US" sz="4000" dirty="0"/>
              <a:t> ý </a:t>
            </a:r>
            <a:r>
              <a:rPr lang="en-US" sz="4000" dirty="0" err="1"/>
              <a:t>tưởng</a:t>
            </a:r>
            <a:r>
              <a:rPr lang="en-US" sz="4000" dirty="0"/>
              <a:t> </a:t>
            </a:r>
            <a:r>
              <a:rPr lang="en-US" sz="4000" dirty="0" err="1"/>
              <a:t>khác</a:t>
            </a:r>
            <a:r>
              <a:rPr lang="en-US" sz="4000" dirty="0"/>
              <a:t> </a:t>
            </a:r>
            <a:r>
              <a:rPr lang="en-US" sz="4000" dirty="0" err="1"/>
              <a:t>nhau</a:t>
            </a:r>
            <a:r>
              <a:rPr lang="en-US" sz="4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4000" dirty="0"/>
              <a:t>Giao </a:t>
            </a:r>
            <a:r>
              <a:rPr lang="en-US" sz="4000" dirty="0" err="1"/>
              <a:t>tiếp</a:t>
            </a:r>
            <a:r>
              <a:rPr lang="en-US" sz="4000" dirty="0"/>
              <a:t> </a:t>
            </a:r>
            <a:r>
              <a:rPr lang="en-US" sz="4000" dirty="0" err="1"/>
              <a:t>dễ</a:t>
            </a:r>
            <a:r>
              <a:rPr lang="en-US" sz="4000" dirty="0"/>
              <a:t> </a:t>
            </a:r>
            <a:r>
              <a:rPr lang="en-US" sz="4000" dirty="0" err="1"/>
              <a:t>dàng</a:t>
            </a:r>
            <a:r>
              <a:rPr lang="en-US" sz="4000" dirty="0"/>
              <a:t> </a:t>
            </a:r>
            <a:r>
              <a:rPr lang="en-US" sz="4000" dirty="0" err="1"/>
              <a:t>giữa</a:t>
            </a:r>
            <a:r>
              <a:rPr lang="en-US" sz="4000" dirty="0"/>
              <a:t> </a:t>
            </a:r>
            <a:r>
              <a:rPr lang="en-US" sz="4000" dirty="0" err="1"/>
              <a:t>nhà</a:t>
            </a:r>
            <a:r>
              <a:rPr lang="en-US" sz="4000" dirty="0"/>
              <a:t> </a:t>
            </a:r>
            <a:r>
              <a:rPr lang="en-US" sz="4000" dirty="0" err="1"/>
              <a:t>thiết</a:t>
            </a:r>
            <a:r>
              <a:rPr lang="en-US" sz="4000" dirty="0"/>
              <a:t> </a:t>
            </a:r>
            <a:r>
              <a:rPr lang="en-US" sz="4000" dirty="0" err="1"/>
              <a:t>kế</a:t>
            </a:r>
            <a:r>
              <a:rPr lang="en-US" sz="4000" dirty="0"/>
              <a:t>, </a:t>
            </a:r>
            <a:r>
              <a:rPr lang="en-US" sz="4000" dirty="0" err="1"/>
              <a:t>kỹ</a:t>
            </a:r>
            <a:r>
              <a:rPr lang="en-US" sz="4000" dirty="0"/>
              <a:t> </a:t>
            </a:r>
            <a:r>
              <a:rPr lang="en-US" sz="4000" dirty="0" err="1"/>
              <a:t>sư</a:t>
            </a:r>
            <a:r>
              <a:rPr lang="en-US" sz="4000" dirty="0"/>
              <a:t> </a:t>
            </a:r>
            <a:r>
              <a:rPr lang="en-US" sz="4000" dirty="0" err="1"/>
              <a:t>và</a:t>
            </a:r>
            <a:r>
              <a:rPr lang="en-US" sz="4000" dirty="0"/>
              <a:t> </a:t>
            </a:r>
            <a:r>
              <a:rPr lang="en-US" sz="4000" dirty="0" err="1"/>
              <a:t>khách</a:t>
            </a:r>
            <a:r>
              <a:rPr lang="en-US" sz="4000" dirty="0"/>
              <a:t> </a:t>
            </a:r>
            <a:r>
              <a:rPr lang="en-US" sz="4000" dirty="0" err="1"/>
              <a:t>hàng</a:t>
            </a:r>
            <a:r>
              <a:rPr lang="en-US" sz="4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4000" dirty="0" err="1"/>
              <a:t>Xây</a:t>
            </a:r>
            <a:r>
              <a:rPr lang="en-US" sz="4000" dirty="0"/>
              <a:t> </a:t>
            </a:r>
            <a:r>
              <a:rPr lang="en-US" sz="4000" dirty="0" err="1"/>
              <a:t>dựng</a:t>
            </a:r>
            <a:r>
              <a:rPr lang="en-US" sz="4000" dirty="0"/>
              <a:t> </a:t>
            </a:r>
            <a:r>
              <a:rPr lang="en-US" sz="4000" dirty="0" err="1"/>
              <a:t>nền</a:t>
            </a:r>
            <a:r>
              <a:rPr lang="en-US" sz="4000" dirty="0"/>
              <a:t> </a:t>
            </a:r>
            <a:r>
              <a:rPr lang="en-US" sz="4000" dirty="0" err="1"/>
              <a:t>tảng</a:t>
            </a:r>
            <a:r>
              <a:rPr lang="en-US" sz="4000" dirty="0"/>
              <a:t> </a:t>
            </a:r>
            <a:r>
              <a:rPr lang="en-US" sz="4000" dirty="0" err="1"/>
              <a:t>vững</a:t>
            </a:r>
            <a:r>
              <a:rPr lang="en-US" sz="4000" dirty="0"/>
              <a:t> </a:t>
            </a:r>
            <a:r>
              <a:rPr lang="en-US" sz="4000" dirty="0" err="1"/>
              <a:t>chắc</a:t>
            </a:r>
            <a:r>
              <a:rPr lang="en-US" sz="4000" dirty="0"/>
              <a:t> </a:t>
            </a:r>
            <a:r>
              <a:rPr lang="en-US" sz="4000" dirty="0" err="1"/>
              <a:t>cho</a:t>
            </a:r>
            <a:r>
              <a:rPr lang="en-US" sz="4000" dirty="0"/>
              <a:t> </a:t>
            </a:r>
            <a:r>
              <a:rPr lang="en-US" sz="4000" dirty="0" err="1"/>
              <a:t>giai</a:t>
            </a:r>
            <a:r>
              <a:rPr lang="en-US" sz="4000" dirty="0"/>
              <a:t> </a:t>
            </a:r>
            <a:r>
              <a:rPr lang="en-US" sz="4000" dirty="0" err="1"/>
              <a:t>đoạn</a:t>
            </a:r>
            <a:r>
              <a:rPr lang="en-US" sz="4000" dirty="0"/>
              <a:t> </a:t>
            </a:r>
            <a:r>
              <a:rPr lang="en-US" sz="4000" dirty="0" err="1"/>
              <a:t>thiết</a:t>
            </a:r>
            <a:r>
              <a:rPr lang="en-US" sz="4000" dirty="0"/>
              <a:t> </a:t>
            </a:r>
            <a:r>
              <a:rPr lang="en-US" sz="4000" dirty="0" err="1"/>
              <a:t>kế</a:t>
            </a:r>
            <a:r>
              <a:rPr lang="en-US" sz="4000" dirty="0"/>
              <a:t> chi </a:t>
            </a:r>
            <a:r>
              <a:rPr lang="en-US" sz="4000" dirty="0" err="1"/>
              <a:t>tiết</a:t>
            </a:r>
            <a:endParaRPr lang="en-US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162108-6F17-A624-0E9F-57149B8C13F5}"/>
              </a:ext>
            </a:extLst>
          </p:cNvPr>
          <p:cNvSpPr txBox="1"/>
          <p:nvPr/>
        </p:nvSpPr>
        <p:spPr>
          <a:xfrm>
            <a:off x="1255295" y="7305822"/>
            <a:ext cx="17032705" cy="1843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nền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móng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chu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đại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b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Wireframe → Prototype → Feedback → Testing → Final Design.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25186" y="723900"/>
            <a:ext cx="9037627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8"/>
              </a:lnSpc>
            </a:pPr>
            <a:r>
              <a:rPr lang="en-US" sz="5600" b="1" spc="-364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Kết</a:t>
            </a:r>
            <a:r>
              <a:rPr lang="en-US" sz="5600" b="1" spc="-364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5600" b="1" spc="-364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quả</a:t>
            </a:r>
            <a:r>
              <a:rPr lang="en-US" sz="5600" b="1" spc="-364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5600" b="1" spc="-364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và</a:t>
            </a:r>
            <a:r>
              <a:rPr lang="en-US" sz="5600" b="1" spc="-364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5600" b="1" spc="-364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kết</a:t>
            </a:r>
            <a:r>
              <a:rPr lang="en-US" sz="5600" b="1" spc="-364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5600" b="1" spc="-364" dirty="0" err="1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luận</a:t>
            </a:r>
            <a:r>
              <a:rPr lang="en-US" sz="5600" b="1" spc="-364" dirty="0">
                <a:solidFill>
                  <a:srgbClr val="171717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1C8EFC-7069-CEB7-F570-BE22E66F4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43258"/>
            <a:ext cx="4800600" cy="8393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FBD0A6-C470-8569-80F5-EE99EDAE596A}"/>
              </a:ext>
            </a:extLst>
          </p:cNvPr>
          <p:cNvSpPr txBox="1"/>
          <p:nvPr/>
        </p:nvSpPr>
        <p:spPr>
          <a:xfrm>
            <a:off x="6156158" y="2368277"/>
            <a:ext cx="11811000" cy="5742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Wireframing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giúp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ý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tưởng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tiết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kiệm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cộng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tác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“Cinematic”,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hiểu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xây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dựng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khung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diện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hoàn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chỉnh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nền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tảng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giai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chi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tiết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prototype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tương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tác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556</Words>
  <Application>Microsoft Office PowerPoint</Application>
  <PresentationFormat>Custom</PresentationFormat>
  <Paragraphs>55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Agrandir</vt:lpstr>
      <vt:lpstr>Aptos</vt:lpstr>
      <vt:lpstr>Times New Roman Bold</vt:lpstr>
      <vt:lpstr>Times New Roman</vt:lpstr>
      <vt:lpstr>Arial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Colorful Illustration Stock Market Presentation</dc:title>
  <cp:lastModifiedBy>Hoàng Phúc</cp:lastModifiedBy>
  <cp:revision>20</cp:revision>
  <dcterms:created xsi:type="dcterms:W3CDTF">2006-08-16T00:00:00Z</dcterms:created>
  <dcterms:modified xsi:type="dcterms:W3CDTF">2025-10-29T17:13:09Z</dcterms:modified>
  <dc:identifier>DAGzIOe4MUU</dc:identifier>
</cp:coreProperties>
</file>